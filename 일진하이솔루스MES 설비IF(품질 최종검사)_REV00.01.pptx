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"/>
  </p:notesMasterIdLst>
  <p:sldIdLst>
    <p:sldId id="256" r:id="rId2"/>
    <p:sldId id="764" r:id="rId3"/>
    <p:sldId id="733" r:id="rId4"/>
    <p:sldId id="284" r:id="rId5"/>
    <p:sldId id="462" r:id="rId6"/>
    <p:sldId id="736" r:id="rId7"/>
    <p:sldId id="275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 EH" initials="LE" lastIdx="1" clrIdx="0">
    <p:extLst>
      <p:ext uri="{19B8F6BF-5375-455C-9EA6-DF929625EA0E}">
        <p15:presenceInfo xmlns:p15="http://schemas.microsoft.com/office/powerpoint/2012/main" userId="7401e38a0f975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000"/>
    <a:srgbClr val="FB9F9F"/>
    <a:srgbClr val="92D050"/>
    <a:srgbClr val="AFABAB"/>
    <a:srgbClr val="F85656"/>
    <a:srgbClr val="E8BBEB"/>
    <a:srgbClr val="D077D7"/>
    <a:srgbClr val="F3E27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890" autoAdjust="0"/>
  </p:normalViewPr>
  <p:slideViewPr>
    <p:cSldViewPr snapToGrid="0" showGuides="1">
      <p:cViewPr varScale="1">
        <p:scale>
          <a:sx n="113" d="100"/>
          <a:sy n="113" d="100"/>
        </p:scale>
        <p:origin x="1338" y="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EDC7B-59A4-4037-9C15-B17B0C611321}" type="datetimeFigureOut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51207-DCE9-4018-8DEC-F205E007B7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09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51207-DCE9-4018-8DEC-F205E007B79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6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3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5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62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1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5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2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71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99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576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563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40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70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209709"/>
            <a:ext cx="9144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50" b="1" dirty="0" err="1">
                <a:latin typeface="+mj-ea"/>
                <a:ea typeface="+mj-ea"/>
              </a:rPr>
              <a:t>yuMES</a:t>
            </a:r>
            <a:r>
              <a:rPr lang="en-US" altLang="ko-KR" sz="2250" b="1" dirty="0">
                <a:latin typeface="+mj-ea"/>
                <a:ea typeface="+mj-ea"/>
              </a:rPr>
              <a:t> </a:t>
            </a:r>
            <a:r>
              <a:rPr lang="ko-KR" altLang="en-US" sz="2250" b="1" dirty="0">
                <a:latin typeface="+mj-ea"/>
                <a:ea typeface="+mj-ea"/>
              </a:rPr>
              <a:t>프로세스 </a:t>
            </a:r>
            <a:r>
              <a:rPr lang="en-US" altLang="ko-KR" sz="2250" b="1" dirty="0">
                <a:latin typeface="+mj-ea"/>
                <a:ea typeface="+mj-ea"/>
              </a:rPr>
              <a:t>(</a:t>
            </a:r>
            <a:r>
              <a:rPr lang="ko-KR" altLang="en-US" sz="2250" b="1" dirty="0">
                <a:latin typeface="+mj-ea"/>
                <a:ea typeface="+mj-ea"/>
              </a:rPr>
              <a:t>설비 </a:t>
            </a:r>
            <a:r>
              <a:rPr lang="en-US" altLang="ko-KR" sz="2250" b="1" dirty="0">
                <a:latin typeface="+mj-ea"/>
                <a:ea typeface="+mj-ea"/>
              </a:rPr>
              <a:t>I/F)</a:t>
            </a:r>
            <a:endParaRPr lang="ko-KR" altLang="en-US" sz="2250" b="1" dirty="0">
              <a:latin typeface="+mj-ea"/>
              <a:ea typeface="+mj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0947" y="5710382"/>
            <a:ext cx="8994228" cy="784830"/>
            <a:chOff x="0" y="5710382"/>
            <a:chExt cx="8994228" cy="784830"/>
          </a:xfrm>
        </p:grpSpPr>
        <p:sp>
          <p:nvSpPr>
            <p:cNvPr id="5" name="TextBox 4"/>
            <p:cNvSpPr txBox="1"/>
            <p:nvPr/>
          </p:nvSpPr>
          <p:spPr>
            <a:xfrm>
              <a:off x="0" y="5710382"/>
              <a:ext cx="1221828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 dirty="0" err="1">
                  <a:latin typeface="+mj-ea"/>
                  <a:ea typeface="+mj-ea"/>
                </a:rPr>
                <a:t>프로젝트명</a:t>
              </a:r>
              <a:endParaRPr lang="en-US" altLang="ko-KR" sz="1500" b="1" dirty="0">
                <a:latin typeface="+mj-ea"/>
                <a:ea typeface="+mj-ea"/>
              </a:endParaRPr>
            </a:p>
            <a:p>
              <a:r>
                <a:rPr lang="ko-KR" altLang="en-US" sz="1500" b="1" dirty="0">
                  <a:latin typeface="+mj-ea"/>
                  <a:ea typeface="+mj-ea"/>
                </a:rPr>
                <a:t>문서 </a:t>
              </a:r>
              <a:r>
                <a:rPr lang="en-US" altLang="ko-KR" sz="1500" b="1" dirty="0">
                  <a:latin typeface="+mj-ea"/>
                  <a:ea typeface="+mj-ea"/>
                </a:rPr>
                <a:t>ID</a:t>
              </a:r>
            </a:p>
            <a:p>
              <a:r>
                <a:rPr lang="ko-KR" altLang="en-US" sz="1500" b="1" dirty="0" err="1">
                  <a:latin typeface="+mj-ea"/>
                  <a:ea typeface="+mj-ea"/>
                </a:rPr>
                <a:t>버</a:t>
              </a:r>
              <a:r>
                <a:rPr lang="ko-KR" altLang="en-US" sz="1500" b="1" dirty="0">
                  <a:latin typeface="+mj-ea"/>
                  <a:ea typeface="+mj-ea"/>
                </a:rPr>
                <a:t>    전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19503" y="5710382"/>
              <a:ext cx="1221828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+mj-ea"/>
                  <a:ea typeface="+mj-ea"/>
                </a:rPr>
                <a:t>:</a:t>
              </a:r>
            </a:p>
            <a:p>
              <a:r>
                <a:rPr lang="en-US" altLang="ko-KR" sz="1500" b="1" dirty="0">
                  <a:latin typeface="+mj-ea"/>
                  <a:ea typeface="+mj-ea"/>
                </a:rPr>
                <a:t>:</a:t>
              </a:r>
            </a:p>
            <a:p>
              <a:r>
                <a:rPr lang="en-US" altLang="ko-KR" sz="1500" b="1" dirty="0">
                  <a:latin typeface="+mj-ea"/>
                  <a:ea typeface="+mj-ea"/>
                </a:rPr>
                <a:t>:</a:t>
              </a:r>
              <a:endParaRPr lang="ko-KR" altLang="en-US" sz="1500" b="1" dirty="0">
                <a:latin typeface="+mj-ea"/>
                <a:ea typeface="+mj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23294" y="5710382"/>
              <a:ext cx="7870934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 dirty="0">
                  <a:latin typeface="+mj-ea"/>
                  <a:ea typeface="+mj-ea"/>
                </a:rPr>
                <a:t>일진</a:t>
              </a:r>
              <a:r>
                <a:rPr lang="en-US" altLang="ko-KR" sz="1500" b="1" dirty="0">
                  <a:latin typeface="+mj-ea"/>
                  <a:ea typeface="+mj-ea"/>
                </a:rPr>
                <a:t>MES</a:t>
              </a:r>
              <a:r>
                <a:rPr lang="ko-KR" altLang="en-US" sz="1500" b="1" dirty="0" err="1">
                  <a:latin typeface="+mj-ea"/>
                  <a:ea typeface="+mj-ea"/>
                </a:rPr>
                <a:t>개발및</a:t>
              </a:r>
              <a:r>
                <a:rPr lang="ko-KR" altLang="en-US" sz="1500" b="1" dirty="0">
                  <a:latin typeface="+mj-ea"/>
                  <a:ea typeface="+mj-ea"/>
                </a:rPr>
                <a:t> 구축</a:t>
              </a:r>
              <a:endParaRPr lang="en-US" altLang="ko-KR" sz="1500" b="1" dirty="0">
                <a:latin typeface="+mj-ea"/>
                <a:ea typeface="+mj-ea"/>
              </a:endParaRPr>
            </a:p>
            <a:p>
              <a:r>
                <a:rPr lang="ko-KR" altLang="en-US" sz="1500" b="1" dirty="0">
                  <a:latin typeface="+mj-ea"/>
                  <a:ea typeface="+mj-ea"/>
                </a:rPr>
                <a:t>프로세스</a:t>
              </a:r>
            </a:p>
            <a:p>
              <a:r>
                <a:rPr lang="en-US" altLang="ko-KR" sz="1500" b="1">
                  <a:latin typeface="+mj-ea"/>
                  <a:ea typeface="+mj-ea"/>
                </a:rPr>
                <a:t>V00.01</a:t>
              </a:r>
              <a:endParaRPr lang="en-US" altLang="ko-KR" sz="1500" b="1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040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337BE3-7E63-4E26-92C7-0A6A7D48C734}"/>
              </a:ext>
            </a:extLst>
          </p:cNvPr>
          <p:cNvSpPr txBox="1"/>
          <p:nvPr/>
        </p:nvSpPr>
        <p:spPr>
          <a:xfrm>
            <a:off x="0" y="640522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 </a:t>
            </a:r>
            <a:r>
              <a:rPr lang="ko-KR" altLang="en-US" sz="5000" b="1" dirty="0">
                <a:latin typeface="+mj-ea"/>
                <a:ea typeface="+mj-ea"/>
              </a:rPr>
              <a:t>접속정보 및 예제 </a:t>
            </a:r>
            <a:r>
              <a:rPr lang="en-US" altLang="ko-KR" sz="5000" b="1" dirty="0">
                <a:latin typeface="+mj-ea"/>
                <a:ea typeface="+mj-ea"/>
              </a:rPr>
              <a:t>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25F72-F42A-4D0A-B4B3-250254585079}"/>
              </a:ext>
            </a:extLst>
          </p:cNvPr>
          <p:cNvSpPr txBox="1"/>
          <p:nvPr/>
        </p:nvSpPr>
        <p:spPr>
          <a:xfrm>
            <a:off x="618064" y="1595429"/>
            <a:ext cx="3141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접속정보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IP: </a:t>
            </a:r>
            <a:r>
              <a:rPr lang="en-US" altLang="ko-KR" b="0" dirty="0">
                <a:effectLst/>
                <a:latin typeface="+mn-ea"/>
              </a:rPr>
              <a:t>197.200.81.172</a:t>
            </a:r>
            <a:endParaRPr lang="en-US" altLang="ko-KR" dirty="0">
              <a:latin typeface="+mn-ea"/>
            </a:endParaRPr>
          </a:p>
          <a:p>
            <a:r>
              <a:rPr lang="en-US" altLang="ko-KR" dirty="0"/>
              <a:t>PORT: 20000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847B0-57F4-4275-9D39-7E30E38185CC}"/>
              </a:ext>
            </a:extLst>
          </p:cNvPr>
          <p:cNvSpPr txBox="1"/>
          <p:nvPr/>
        </p:nvSpPr>
        <p:spPr>
          <a:xfrm>
            <a:off x="5037667" y="3141133"/>
            <a:ext cx="332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예제</a:t>
            </a:r>
            <a:r>
              <a:rPr lang="en-US" altLang="ko-KR" sz="1000" dirty="0"/>
              <a:t>(</a:t>
            </a:r>
            <a:r>
              <a:rPr lang="ko-KR" altLang="en-US" sz="1000" dirty="0"/>
              <a:t>참고용</a:t>
            </a:r>
            <a:r>
              <a:rPr lang="en-US" altLang="ko-KR" sz="1000" dirty="0"/>
              <a:t>):</a:t>
            </a:r>
          </a:p>
          <a:p>
            <a:r>
              <a:rPr lang="en-US" altLang="ko-KR" sz="1000" dirty="0"/>
              <a:t>TR: 88001</a:t>
            </a:r>
          </a:p>
          <a:p>
            <a:r>
              <a:rPr lang="en-US" altLang="ko-KR" sz="1000" dirty="0"/>
              <a:t>PACKET: 92</a:t>
            </a:r>
          </a:p>
          <a:p>
            <a:r>
              <a:rPr lang="ko-KR" altLang="en-US" sz="1000" dirty="0" err="1"/>
              <a:t>보낼는데이터</a:t>
            </a:r>
            <a:r>
              <a:rPr lang="ko-KR" altLang="en-US" sz="1000" dirty="0"/>
              <a:t> 샘플</a:t>
            </a:r>
            <a:r>
              <a:rPr lang="en-US" altLang="ko-KR" sz="1000" dirty="0"/>
              <a:t>: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MCN001;88001-00001;ModelX;12.345;0.123;12.400;0.055;123.456;1.234;124.000;0.544;OK;OK;79;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4F83E1-332B-4FB0-B1CA-8FF943C63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87" y="2735579"/>
            <a:ext cx="4493299" cy="359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2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44493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>
                <a:latin typeface="+mj-ea"/>
                <a:ea typeface="+mj-ea"/>
              </a:rPr>
              <a:t>- </a:t>
            </a:r>
            <a:r>
              <a:rPr lang="ko-KR" altLang="en-US" sz="5000" b="1">
                <a:latin typeface="+mj-ea"/>
                <a:ea typeface="+mj-ea"/>
              </a:rPr>
              <a:t>모든 설비 공통 </a:t>
            </a:r>
            <a:r>
              <a:rPr lang="en-US" altLang="ko-KR" sz="5000" b="1">
                <a:latin typeface="+mj-ea"/>
                <a:ea typeface="+mj-ea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948863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572000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500" b="1" dirty="0">
                <a:latin typeface="+mj-ea"/>
              </a:rPr>
              <a:t>0. Header Information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74771" y="464819"/>
          <a:ext cx="8794458" cy="56539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824918">
                  <a:extLst>
                    <a:ext uri="{9D8B030D-6E8A-4147-A177-3AD203B41FA5}">
                      <a16:colId xmlns:a16="http://schemas.microsoft.com/office/drawing/2014/main" val="773713846"/>
                    </a:ext>
                  </a:extLst>
                </a:gridCol>
                <a:gridCol w="1526796">
                  <a:extLst>
                    <a:ext uri="{9D8B030D-6E8A-4147-A177-3AD203B41FA5}">
                      <a16:colId xmlns:a16="http://schemas.microsoft.com/office/drawing/2014/main" val="238886434"/>
                    </a:ext>
                  </a:extLst>
                </a:gridCol>
                <a:gridCol w="1333850">
                  <a:extLst>
                    <a:ext uri="{9D8B030D-6E8A-4147-A177-3AD203B41FA5}">
                      <a16:colId xmlns:a16="http://schemas.microsoft.com/office/drawing/2014/main" val="3664497655"/>
                    </a:ext>
                  </a:extLst>
                </a:gridCol>
                <a:gridCol w="1619075">
                  <a:extLst>
                    <a:ext uri="{9D8B030D-6E8A-4147-A177-3AD203B41FA5}">
                      <a16:colId xmlns:a16="http://schemas.microsoft.com/office/drawing/2014/main" val="3347847406"/>
                    </a:ext>
                  </a:extLst>
                </a:gridCol>
                <a:gridCol w="872455">
                  <a:extLst>
                    <a:ext uri="{9D8B030D-6E8A-4147-A177-3AD203B41FA5}">
                      <a16:colId xmlns:a16="http://schemas.microsoft.com/office/drawing/2014/main" val="2944056379"/>
                    </a:ext>
                  </a:extLst>
                </a:gridCol>
                <a:gridCol w="2617364">
                  <a:extLst>
                    <a:ext uri="{9D8B030D-6E8A-4147-A177-3AD203B41FA5}">
                      <a16:colId xmlns:a16="http://schemas.microsoft.com/office/drawing/2014/main" val="3100232998"/>
                    </a:ext>
                  </a:extLst>
                </a:gridCol>
              </a:tblGrid>
              <a:tr h="346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헤더정보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자료형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사이즈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77468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TotLength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Packet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전체길이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(244)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Length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33836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CompressFlg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압축여부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52151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PacketID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Packet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유형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$92(0X92)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Polling  : $10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84296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ErrGu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Err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송부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0 Return</a:t>
                      </a:r>
                    </a:p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에러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: 1 Return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972396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TrCd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배포된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</a:rPr>
                        <a:t> TR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코드번호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85001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Polling  : 00000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928924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BeAf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이전이후구분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송부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293093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MsgCd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array [0..3] of char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메세지코드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송부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공백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Return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에러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Return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524318"/>
                  </a:ext>
                </a:extLst>
              </a:tr>
              <a:tr h="44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Msg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array [0..199] of 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에러메세지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송부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공백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Return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에러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미들웨어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→ 설비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에러메세지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Return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메시지 앞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자리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#9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일 경우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50141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코드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사용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81720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WinID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윈도아이디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프로그램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Window Handle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931837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Org_Len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압축전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데이타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길이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Length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282055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SQLGu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SQL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$05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고정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 (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Polling  : $06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4698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NxtLen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Next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값 기준시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83797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Filler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array [0..14] of char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Filler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공백 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 Null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90732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RCnt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integer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레코드 갯수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*$90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패킷시 정상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미들웨어 → 설비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: 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레코드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244277"/>
                  </a:ext>
                </a:extLst>
              </a:tr>
              <a:tr h="346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전체 자리수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244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TotLength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길이는 제외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69936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45" y="6207701"/>
            <a:ext cx="598463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Polling :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서버에서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30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초 단위로 접속을 끊기 때문에 연결유지를 위해 사용하며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 Receive data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없음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en-US" altLang="ko-KR" sz="1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375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572000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500" b="1">
                <a:latin typeface="+mj-ea"/>
              </a:rPr>
              <a:t>0. </a:t>
            </a:r>
            <a:r>
              <a:rPr lang="ko-KR" altLang="en-US" sz="1500" b="1">
                <a:latin typeface="+mj-ea"/>
              </a:rPr>
              <a:t>공통 적용 필요사항 </a:t>
            </a:r>
            <a:r>
              <a:rPr lang="en-US" altLang="ko-KR" sz="1500" b="1">
                <a:latin typeface="+mj-ea"/>
              </a:rPr>
              <a:t>(</a:t>
            </a:r>
            <a:r>
              <a:rPr lang="ko-KR" altLang="en-US" sz="1500" b="1">
                <a:latin typeface="+mj-ea"/>
              </a:rPr>
              <a:t>필독</a:t>
            </a:r>
            <a:r>
              <a:rPr lang="en-US" altLang="ko-KR" sz="1500" b="1">
                <a:latin typeface="+mj-ea"/>
              </a:rPr>
              <a:t>)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67095" y="2132184"/>
            <a:ext cx="1240971" cy="1240971"/>
            <a:chOff x="253093" y="1924088"/>
            <a:chExt cx="1240971" cy="1240971"/>
          </a:xfrm>
        </p:grpSpPr>
        <p:grpSp>
          <p:nvGrpSpPr>
            <p:cNvPr id="6" name="그룹 5"/>
            <p:cNvGrpSpPr/>
            <p:nvPr/>
          </p:nvGrpSpPr>
          <p:grpSpPr>
            <a:xfrm>
              <a:off x="253093" y="1924088"/>
              <a:ext cx="1240971" cy="1240971"/>
              <a:chOff x="5029199" y="2473778"/>
              <a:chExt cx="1240971" cy="1240971"/>
            </a:xfrm>
          </p:grpSpPr>
          <p:sp>
            <p:nvSpPr>
              <p:cNvPr id="8" name="타원 7">
                <a:hlinkClick r:id="rId2" action="ppaction://hlinksldjump"/>
              </p:cNvPr>
              <p:cNvSpPr/>
              <p:nvPr/>
            </p:nvSpPr>
            <p:spPr>
              <a:xfrm>
                <a:off x="5029199" y="2473778"/>
                <a:ext cx="1240971" cy="12409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타원 8">
                <a:hlinkClick r:id="" action="ppaction://noaction"/>
              </p:cNvPr>
              <p:cNvSpPr/>
              <p:nvPr/>
            </p:nvSpPr>
            <p:spPr>
              <a:xfrm>
                <a:off x="5159826" y="2604404"/>
                <a:ext cx="979716" cy="9797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>
              <a:hlinkClick r:id="rId2" action="ppaction://hlinksldjump"/>
            </p:cNvPr>
            <p:cNvSpPr txBox="1"/>
            <p:nvPr/>
          </p:nvSpPr>
          <p:spPr>
            <a:xfrm>
              <a:off x="380550" y="2054714"/>
              <a:ext cx="977891" cy="9797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b="1">
                  <a:solidFill>
                    <a:srgbClr val="639729"/>
                  </a:solidFill>
                </a:rPr>
                <a:t>서버 → 설비</a:t>
              </a:r>
              <a:endParaRPr lang="en-US" altLang="ko-KR" sz="1100" b="1">
                <a:solidFill>
                  <a:srgbClr val="639729"/>
                </a:solidFill>
              </a:endParaRPr>
            </a:p>
            <a:p>
              <a:pPr algn="ctr"/>
              <a:r>
                <a:rPr lang="en-US" altLang="ko-KR" sz="1100" b="1">
                  <a:solidFill>
                    <a:srgbClr val="FF0000"/>
                  </a:solidFill>
                </a:rPr>
                <a:t>RETURN</a:t>
              </a:r>
            </a:p>
            <a:p>
              <a:pPr algn="ctr"/>
              <a:r>
                <a:rPr lang="en-US" altLang="ko-KR" sz="1100" b="1">
                  <a:solidFill>
                    <a:srgbClr val="FF0000"/>
                  </a:solidFill>
                </a:rPr>
                <a:t>DATA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846371" y="2493380"/>
            <a:ext cx="2952052" cy="51857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DATA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간 파라미터 없음 → 자리수로 구분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371179" y="659708"/>
            <a:ext cx="1240971" cy="1240971"/>
            <a:chOff x="253093" y="1924088"/>
            <a:chExt cx="1240971" cy="1240971"/>
          </a:xfrm>
        </p:grpSpPr>
        <p:grpSp>
          <p:nvGrpSpPr>
            <p:cNvPr id="14" name="그룹 13"/>
            <p:cNvGrpSpPr/>
            <p:nvPr/>
          </p:nvGrpSpPr>
          <p:grpSpPr>
            <a:xfrm>
              <a:off x="253093" y="1924088"/>
              <a:ext cx="1240971" cy="1240971"/>
              <a:chOff x="5029199" y="2473778"/>
              <a:chExt cx="1240971" cy="1240971"/>
            </a:xfrm>
          </p:grpSpPr>
          <p:sp>
            <p:nvSpPr>
              <p:cNvPr id="16" name="타원 15">
                <a:hlinkClick r:id="rId2" action="ppaction://hlinksldjump"/>
              </p:cNvPr>
              <p:cNvSpPr/>
              <p:nvPr/>
            </p:nvSpPr>
            <p:spPr>
              <a:xfrm>
                <a:off x="5029199" y="2473778"/>
                <a:ext cx="1240971" cy="12409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타원 16">
                <a:hlinkClick r:id="" action="ppaction://noaction"/>
              </p:cNvPr>
              <p:cNvSpPr/>
              <p:nvPr/>
            </p:nvSpPr>
            <p:spPr>
              <a:xfrm>
                <a:off x="5159826" y="2604404"/>
                <a:ext cx="979716" cy="9797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TextBox 14">
              <a:hlinkClick r:id="rId2" action="ppaction://hlinksldjump"/>
            </p:cNvPr>
            <p:cNvSpPr txBox="1"/>
            <p:nvPr/>
          </p:nvSpPr>
          <p:spPr>
            <a:xfrm>
              <a:off x="380550" y="2054714"/>
              <a:ext cx="977891" cy="9797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100" b="1">
                  <a:solidFill>
                    <a:srgbClr val="639729"/>
                  </a:solidFill>
                </a:rPr>
                <a:t>HEADER </a:t>
              </a:r>
              <a:r>
                <a:rPr lang="ko-KR" altLang="en-US" sz="1100" b="1">
                  <a:solidFill>
                    <a:srgbClr val="639729"/>
                  </a:solidFill>
                </a:rPr>
                <a:t>정보</a:t>
              </a:r>
              <a:endParaRPr lang="en-US" altLang="ko-KR" sz="1100"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en-US" altLang="ko-KR" sz="1100" b="1">
                  <a:solidFill>
                    <a:srgbClr val="FF0000"/>
                  </a:solidFill>
                </a:rPr>
                <a:t>“MSG”</a:t>
              </a:r>
              <a:r>
                <a:rPr lang="ko-KR" altLang="en-US" sz="1100" b="1">
                  <a:solidFill>
                    <a:srgbClr val="FF0000"/>
                  </a:solidFill>
                </a:rPr>
                <a:t>필드</a:t>
              </a:r>
              <a:endParaRPr lang="en-US" altLang="ko-KR" sz="1100" b="1">
                <a:solidFill>
                  <a:srgbClr val="FF0000"/>
                </a:solidFill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1846371" y="874763"/>
            <a:ext cx="2952053" cy="81085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자리수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: 80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UTF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인코딩 불필요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에러 발생시 작업자가 내용 확인 어려움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244453" y="874763"/>
            <a:ext cx="3446418" cy="81085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schemeClr val="tx1"/>
                </a:solidFill>
                <a:latin typeface="+mj-ea"/>
                <a:ea typeface="+mj-ea"/>
              </a:rPr>
              <a:t>자리수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: 200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MSG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앞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자리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#9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일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50141 TR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코드 사용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아래쪽 화살표 20"/>
          <p:cNvSpPr/>
          <p:nvPr/>
        </p:nvSpPr>
        <p:spPr>
          <a:xfrm rot="5400000" flipV="1">
            <a:off x="4877747" y="1086531"/>
            <a:ext cx="287383" cy="3744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244454" y="2493380"/>
            <a:ext cx="3446418" cy="51857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chemeClr val="tx1"/>
                </a:solidFill>
                <a:latin typeface="+mj-ea"/>
                <a:ea typeface="+mj-ea"/>
              </a:rPr>
              <a:t>DATA </a:t>
            </a: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간 파라미터 존재 → </a:t>
            </a:r>
            <a:r>
              <a:rPr lang="en-US" altLang="ko-KR" sz="1000" b="1">
                <a:solidFill>
                  <a:srgbClr val="FF0000"/>
                </a:solidFill>
                <a:latin typeface="+mj-ea"/>
                <a:ea typeface="+mj-ea"/>
              </a:rPr>
              <a:t>;</a:t>
            </a:r>
            <a:r>
              <a:rPr lang="en-US" altLang="ko-KR" sz="1000" b="1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구분자 송부</a:t>
            </a:r>
          </a:p>
        </p:txBody>
      </p:sp>
      <p:sp>
        <p:nvSpPr>
          <p:cNvPr id="23" name="아래쪽 화살표 22"/>
          <p:cNvSpPr/>
          <p:nvPr/>
        </p:nvSpPr>
        <p:spPr>
          <a:xfrm rot="5400000" flipV="1">
            <a:off x="4877748" y="2578110"/>
            <a:ext cx="287383" cy="3744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367095" y="3595667"/>
            <a:ext cx="1240971" cy="1240971"/>
            <a:chOff x="253093" y="1924088"/>
            <a:chExt cx="1240971" cy="1240971"/>
          </a:xfrm>
        </p:grpSpPr>
        <p:grpSp>
          <p:nvGrpSpPr>
            <p:cNvPr id="29" name="그룹 28"/>
            <p:cNvGrpSpPr/>
            <p:nvPr/>
          </p:nvGrpSpPr>
          <p:grpSpPr>
            <a:xfrm>
              <a:off x="253093" y="1924088"/>
              <a:ext cx="1240971" cy="1240971"/>
              <a:chOff x="5029199" y="2473778"/>
              <a:chExt cx="1240971" cy="1240971"/>
            </a:xfrm>
          </p:grpSpPr>
          <p:sp>
            <p:nvSpPr>
              <p:cNvPr id="39" name="타원 38">
                <a:hlinkClick r:id="rId2" action="ppaction://hlinksldjump"/>
              </p:cNvPr>
              <p:cNvSpPr/>
              <p:nvPr/>
            </p:nvSpPr>
            <p:spPr>
              <a:xfrm>
                <a:off x="5029199" y="2473778"/>
                <a:ext cx="1240971" cy="12409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hlinkClick r:id="" action="ppaction://noaction"/>
              </p:cNvPr>
              <p:cNvSpPr/>
              <p:nvPr/>
            </p:nvSpPr>
            <p:spPr>
              <a:xfrm>
                <a:off x="5159826" y="2604404"/>
                <a:ext cx="979716" cy="9797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8" name="TextBox 37">
              <a:hlinkClick r:id="rId2" action="ppaction://hlinksldjump"/>
            </p:cNvPr>
            <p:cNvSpPr txBox="1"/>
            <p:nvPr/>
          </p:nvSpPr>
          <p:spPr>
            <a:xfrm>
              <a:off x="380550" y="2054714"/>
              <a:ext cx="977891" cy="9797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b="1">
                  <a:solidFill>
                    <a:schemeClr val="accent6"/>
                  </a:solidFill>
                </a:rPr>
                <a:t>에러메세지</a:t>
              </a:r>
              <a:endParaRPr lang="en-US" altLang="ko-KR" sz="1100" b="1">
                <a:solidFill>
                  <a:schemeClr val="accent6"/>
                </a:solidFill>
              </a:endParaRPr>
            </a:p>
            <a:p>
              <a:pPr algn="ctr"/>
              <a:r>
                <a:rPr lang="ko-KR" altLang="en-US" sz="1100" b="1">
                  <a:solidFill>
                    <a:srgbClr val="FF0000"/>
                  </a:solidFill>
                </a:rPr>
                <a:t>처리방법</a:t>
              </a:r>
              <a:endParaRPr lang="en-US" altLang="ko-KR" sz="1100" b="1">
                <a:solidFill>
                  <a:srgbClr val="FF0000"/>
                </a:solidFill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1854539" y="3793034"/>
            <a:ext cx="2952052" cy="8462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한글 메시지 기준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에러메세지 가시성 불가 설비 존재</a:t>
            </a:r>
            <a:endParaRPr lang="en-US" altLang="ko-KR" sz="100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Header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의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Msg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필드 사용</a:t>
            </a:r>
          </a:p>
        </p:txBody>
      </p:sp>
      <p:sp>
        <p:nvSpPr>
          <p:cNvPr id="42" name="아래쪽 화살표 41"/>
          <p:cNvSpPr/>
          <p:nvPr/>
        </p:nvSpPr>
        <p:spPr>
          <a:xfrm rot="5400000" flipV="1">
            <a:off x="4885916" y="4028916"/>
            <a:ext cx="287383" cy="3744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5252621" y="3793034"/>
            <a:ext cx="3446418" cy="84623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다국어 처리 필요</a:t>
            </a:r>
            <a:endParaRPr lang="en-US" altLang="ko-KR" sz="1000" b="1">
              <a:solidFill>
                <a:schemeClr val="tx1"/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에러 메시지 가시성 필수</a:t>
            </a:r>
            <a:endParaRPr lang="en-US" altLang="ko-KR" sz="1000" b="1">
              <a:solidFill>
                <a:schemeClr val="tx1"/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>
                <a:solidFill>
                  <a:schemeClr val="tx1"/>
                </a:solidFill>
                <a:latin typeface="+mj-ea"/>
                <a:ea typeface="+mj-ea"/>
              </a:rPr>
              <a:t>Header</a:t>
            </a: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의 </a:t>
            </a:r>
            <a:r>
              <a:rPr lang="en-US" altLang="ko-KR" sz="1000" b="1">
                <a:solidFill>
                  <a:schemeClr val="tx1"/>
                </a:solidFill>
                <a:latin typeface="+mj-ea"/>
                <a:ea typeface="+mj-ea"/>
              </a:rPr>
              <a:t>Msgcd </a:t>
            </a: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필드 사용하여 에러메시지</a:t>
            </a:r>
            <a:r>
              <a:rPr lang="en-US" altLang="ko-KR" sz="1000" b="1">
                <a:solidFill>
                  <a:schemeClr val="tx1"/>
                </a:solidFill>
                <a:latin typeface="+mj-ea"/>
                <a:ea typeface="+mj-ea"/>
              </a:rPr>
              <a:t>TR </a:t>
            </a:r>
            <a:r>
              <a:rPr lang="ko-KR" altLang="en-US" sz="1000" b="1">
                <a:solidFill>
                  <a:schemeClr val="tx1"/>
                </a:solidFill>
                <a:latin typeface="+mj-ea"/>
                <a:ea typeface="+mj-ea"/>
              </a:rPr>
              <a:t>추가 조회</a:t>
            </a:r>
          </a:p>
        </p:txBody>
      </p:sp>
    </p:spTree>
    <p:extLst>
      <p:ext uri="{BB962C8B-B14F-4D97-AF65-F5344CB8AC3E}">
        <p14:creationId xmlns:p14="http://schemas.microsoft.com/office/powerpoint/2010/main" val="266308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444938"/>
            <a:ext cx="914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 TR</a:t>
            </a:r>
            <a:r>
              <a:rPr lang="ko-KR" altLang="en-US" sz="5000" b="1" dirty="0">
                <a:latin typeface="+mj-ea"/>
                <a:ea typeface="+mj-ea"/>
              </a:rPr>
              <a:t>구성 </a:t>
            </a:r>
            <a:r>
              <a:rPr lang="en-US" altLang="ko-KR" sz="5000" b="1" dirty="0">
                <a:latin typeface="+mj-ea"/>
                <a:ea typeface="+mj-ea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33444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한쪽 모서리가 잘린 사각형 26"/>
          <p:cNvSpPr/>
          <p:nvPr/>
        </p:nvSpPr>
        <p:spPr>
          <a:xfrm rot="10800000" flipV="1">
            <a:off x="1189328" y="1434288"/>
            <a:ext cx="1009816" cy="219952"/>
          </a:xfrm>
          <a:prstGeom prst="snip1Rect">
            <a:avLst/>
          </a:prstGeom>
          <a:solidFill>
            <a:srgbClr val="FB9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Packet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: 92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7" name="한쪽 모서리가 잘린 사각형 46"/>
          <p:cNvSpPr/>
          <p:nvPr/>
        </p:nvSpPr>
        <p:spPr>
          <a:xfrm rot="10800000" flipV="1">
            <a:off x="1192547" y="850890"/>
            <a:ext cx="1009816" cy="214821"/>
          </a:xfrm>
          <a:prstGeom prst="snip1Rect">
            <a:avLst/>
          </a:prstGeom>
          <a:solidFill>
            <a:srgbClr val="FB9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tx1"/>
                </a:solidFill>
              </a:rPr>
              <a:t>둠파트</a:t>
            </a:r>
            <a:r>
              <a:rPr lang="en-US" altLang="ko-KR" sz="900" b="1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</a:rPr>
              <a:t>승용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5" name="한쪽 모서리가 잘린 사각형 24"/>
          <p:cNvSpPr/>
          <p:nvPr/>
        </p:nvSpPr>
        <p:spPr>
          <a:xfrm rot="10800000" flipV="1">
            <a:off x="1192547" y="1140023"/>
            <a:ext cx="1009816" cy="219952"/>
          </a:xfrm>
          <a:prstGeom prst="snip1Rect">
            <a:avLst/>
          </a:prstGeom>
          <a:solidFill>
            <a:srgbClr val="FB9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TR : 88001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7694"/>
            <a:ext cx="4572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/>
              <a:t>TR88001.</a:t>
            </a:r>
            <a:r>
              <a:rPr lang="ko-KR" altLang="en-US" sz="1600" b="1" dirty="0" err="1"/>
              <a:t>둠파트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승용</a:t>
            </a:r>
            <a:r>
              <a:rPr lang="en-US" altLang="ko-KR" sz="1600" b="1" dirty="0"/>
              <a:t>) </a:t>
            </a:r>
            <a:r>
              <a:rPr lang="ko-KR" altLang="en-US" sz="1600" b="1" dirty="0"/>
              <a:t>입력 </a:t>
            </a:r>
            <a:r>
              <a:rPr lang="en-US" altLang="ko-KR" sz="1600" b="1" dirty="0">
                <a:solidFill>
                  <a:srgbClr val="FF0000"/>
                </a:solidFill>
              </a:rPr>
              <a:t>(1 ~ 2), O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/>
          <p:cNvCxnSpPr>
            <a:cxnSpLocks/>
          </p:cNvCxnSpPr>
          <p:nvPr/>
        </p:nvCxnSpPr>
        <p:spPr>
          <a:xfrm>
            <a:off x="574990" y="2809307"/>
            <a:ext cx="0" cy="118672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772" y="850890"/>
            <a:ext cx="928473" cy="289998"/>
          </a:xfrm>
          <a:prstGeom prst="rect">
            <a:avLst/>
          </a:prstGeom>
          <a:solidFill>
            <a:srgbClr val="FB9F9F"/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900" dirty="0"/>
              <a:t>데이터 전송</a:t>
            </a:r>
          </a:p>
        </p:txBody>
      </p:sp>
      <p:cxnSp>
        <p:nvCxnSpPr>
          <p:cNvPr id="36" name="직선 화살표 연결선 35"/>
          <p:cNvCxnSpPr>
            <a:cxnSpLocks/>
            <a:stCxn id="35" idx="2"/>
          </p:cNvCxnSpPr>
          <p:nvPr/>
        </p:nvCxnSpPr>
        <p:spPr>
          <a:xfrm flipH="1">
            <a:off x="572054" y="1140888"/>
            <a:ext cx="2955" cy="118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34" name="표 133"/>
          <p:cNvGraphicFramePr>
            <a:graphicFrameLocks noGrp="1"/>
          </p:cNvGraphicFramePr>
          <p:nvPr/>
        </p:nvGraphicFramePr>
        <p:xfrm>
          <a:off x="2052867" y="851511"/>
          <a:ext cx="318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54">
                  <a:extLst>
                    <a:ext uri="{9D8B030D-6E8A-4147-A177-3AD203B41FA5}">
                      <a16:colId xmlns:a16="http://schemas.microsoft.com/office/drawing/2014/main" val="1332710373"/>
                    </a:ext>
                  </a:extLst>
                </a:gridCol>
                <a:gridCol w="1042184">
                  <a:extLst>
                    <a:ext uri="{9D8B030D-6E8A-4147-A177-3AD203B41FA5}">
                      <a16:colId xmlns:a16="http://schemas.microsoft.com/office/drawing/2014/main" val="4069627839"/>
                    </a:ext>
                  </a:extLst>
                </a:gridCol>
                <a:gridCol w="954962">
                  <a:extLst>
                    <a:ext uri="{9D8B030D-6E8A-4147-A177-3AD203B41FA5}">
                      <a16:colId xmlns:a16="http://schemas.microsoft.com/office/drawing/2014/main" val="354001191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878452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 → 서버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SEND PARAMETER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설비 → 서버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SEND PARAMETER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3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MCN01-02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90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400000304856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58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NOZZLE 802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09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66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-Data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40050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99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52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220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1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50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-Data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234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3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33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토크값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판정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NVARCHAR(10)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OK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242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조립각도 판정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NVARCHAR(10)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89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Int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7133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38392"/>
                  </a:ext>
                </a:extLst>
              </a:tr>
            </a:tbl>
          </a:graphicData>
        </a:graphic>
      </p:graphicFrame>
      <p:cxnSp>
        <p:nvCxnSpPr>
          <p:cNvPr id="39" name="직선 연결선 38"/>
          <p:cNvCxnSpPr/>
          <p:nvPr/>
        </p:nvCxnSpPr>
        <p:spPr>
          <a:xfrm>
            <a:off x="1114286" y="723890"/>
            <a:ext cx="0" cy="506231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8F7D93-EF19-485E-88B7-F06FE3A7CE90}"/>
              </a:ext>
            </a:extLst>
          </p:cNvPr>
          <p:cNvSpPr txBox="1"/>
          <p:nvPr/>
        </p:nvSpPr>
        <p:spPr>
          <a:xfrm>
            <a:off x="110772" y="2423461"/>
            <a:ext cx="928473" cy="289998"/>
          </a:xfrm>
          <a:prstGeom prst="rect">
            <a:avLst/>
          </a:prstGeom>
          <a:solidFill>
            <a:srgbClr val="FB9F9F"/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900" dirty="0"/>
              <a:t>데이터 </a:t>
            </a:r>
            <a:r>
              <a:rPr lang="en-US" altLang="ko-KR" sz="900" dirty="0"/>
              <a:t>DB</a:t>
            </a:r>
            <a:r>
              <a:rPr lang="ko-KR" altLang="en-US" sz="900" dirty="0"/>
              <a:t>저장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85AB11-8FAC-4A40-A6CA-0AE1BAD9D6CC}"/>
              </a:ext>
            </a:extLst>
          </p:cNvPr>
          <p:cNvSpPr txBox="1"/>
          <p:nvPr/>
        </p:nvSpPr>
        <p:spPr>
          <a:xfrm>
            <a:off x="32775" y="3996032"/>
            <a:ext cx="1081511" cy="736835"/>
          </a:xfrm>
          <a:prstGeom prst="rect">
            <a:avLst/>
          </a:prstGeom>
          <a:solidFill>
            <a:srgbClr val="FB9F9F"/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900" dirty="0"/>
              <a:t>(</a:t>
            </a:r>
            <a:r>
              <a:rPr lang="ko-KR" altLang="en-US" sz="900" dirty="0"/>
              <a:t>임시</a:t>
            </a:r>
            <a:r>
              <a:rPr lang="en-US" altLang="ko-KR" sz="900" dirty="0"/>
              <a:t>-</a:t>
            </a:r>
            <a:r>
              <a:rPr lang="ko-KR" altLang="en-US" sz="900" dirty="0"/>
              <a:t>테스트용</a:t>
            </a:r>
            <a:r>
              <a:rPr lang="en-US" altLang="ko-KR" sz="900" dirty="0"/>
              <a:t>) </a:t>
            </a:r>
            <a:r>
              <a:rPr lang="ko-KR" altLang="en-US" sz="900" dirty="0"/>
              <a:t>입력된 데이터 </a:t>
            </a:r>
            <a:r>
              <a:rPr lang="ko-KR" altLang="en-US" sz="900" dirty="0" err="1"/>
              <a:t>조회후</a:t>
            </a:r>
            <a:r>
              <a:rPr lang="ko-KR" altLang="en-US" sz="900" dirty="0"/>
              <a:t> 그대로 리턴</a:t>
            </a:r>
            <a:r>
              <a:rPr lang="en-US" altLang="ko-KR" sz="900" dirty="0"/>
              <a:t>.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0CB4E52-9487-4D80-9A33-EFE4563EB02E}"/>
              </a:ext>
            </a:extLst>
          </p:cNvPr>
          <p:cNvGraphicFramePr>
            <a:graphicFrameLocks noGrp="1"/>
          </p:cNvGraphicFramePr>
          <p:nvPr/>
        </p:nvGraphicFramePr>
        <p:xfrm>
          <a:off x="5497132" y="847712"/>
          <a:ext cx="3291261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31">
                  <a:extLst>
                    <a:ext uri="{9D8B030D-6E8A-4147-A177-3AD203B41FA5}">
                      <a16:colId xmlns:a16="http://schemas.microsoft.com/office/drawing/2014/main" val="1332710373"/>
                    </a:ext>
                  </a:extLst>
                </a:gridCol>
                <a:gridCol w="1075941">
                  <a:extLst>
                    <a:ext uri="{9D8B030D-6E8A-4147-A177-3AD203B41FA5}">
                      <a16:colId xmlns:a16="http://schemas.microsoft.com/office/drawing/2014/main" val="4069627839"/>
                    </a:ext>
                  </a:extLst>
                </a:gridCol>
                <a:gridCol w="985894">
                  <a:extLst>
                    <a:ext uri="{9D8B030D-6E8A-4147-A177-3AD203B41FA5}">
                      <a16:colId xmlns:a16="http://schemas.microsoft.com/office/drawing/2014/main" val="3540011917"/>
                    </a:ext>
                  </a:extLst>
                </a:gridCol>
                <a:gridCol w="917795">
                  <a:extLst>
                    <a:ext uri="{9D8B030D-6E8A-4147-A177-3AD203B41FA5}">
                      <a16:colId xmlns:a16="http://schemas.microsoft.com/office/drawing/2014/main" val="18878452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서버 → 설비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SEND PARAMETER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설비 → 서버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SEND PARAMETER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3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테이블키값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Bigint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90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Datetime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2025-09-12 11:13:52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58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바코드 순차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Int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MCN01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3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400000304856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804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NVARCHAR(50)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NOZZLE 802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66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6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99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-Data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40050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52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1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220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50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각도설정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3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-Data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234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33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각도측정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NUMERIC(12,3)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242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토크값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판정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NVARCHAR(10)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OK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38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조립각도 판정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NVARCHAR(10)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OK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1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Int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dirty="0">
                          <a:effectLst/>
                          <a:latin typeface="+mn-ea"/>
                          <a:ea typeface="+mn-ea"/>
                        </a:rPr>
                        <a:t>7133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9638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54E4C25-8E6B-05F7-94B0-C64985E7DB50}"/>
              </a:ext>
            </a:extLst>
          </p:cNvPr>
          <p:cNvSpPr txBox="1"/>
          <p:nvPr/>
        </p:nvSpPr>
        <p:spPr>
          <a:xfrm>
            <a:off x="68855" y="5318915"/>
            <a:ext cx="100981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altLang="ko-KR" sz="800" dirty="0"/>
              <a:t>NOZZLE 802</a:t>
            </a:r>
          </a:p>
          <a:p>
            <a:r>
              <a:rPr lang="pl-PL" altLang="ko-KR" sz="800" dirty="0"/>
              <a:t>40000030536</a:t>
            </a:r>
          </a:p>
          <a:p>
            <a:r>
              <a:rPr lang="pl-PL" altLang="ko-KR" sz="800" dirty="0"/>
              <a:t>220</a:t>
            </a:r>
          </a:p>
          <a:p>
            <a:r>
              <a:rPr lang="pl-PL" altLang="ko-KR" sz="800" dirty="0"/>
              <a:t>120</a:t>
            </a:r>
          </a:p>
          <a:p>
            <a:r>
              <a:rPr lang="pl-PL" altLang="ko-KR" sz="800" dirty="0"/>
              <a:t>266</a:t>
            </a:r>
          </a:p>
          <a:p>
            <a:r>
              <a:rPr lang="pl-PL" altLang="ko-KR" sz="800" dirty="0"/>
              <a:t>46</a:t>
            </a:r>
          </a:p>
          <a:p>
            <a:r>
              <a:rPr lang="pl-PL" altLang="ko-KR" sz="800" dirty="0"/>
              <a:t>OKOKOK</a:t>
            </a:r>
          </a:p>
          <a:p>
            <a:r>
              <a:rPr lang="pl-PL" altLang="ko-KR" sz="800" dirty="0"/>
              <a:t>7135</a:t>
            </a:r>
            <a:endParaRPr lang="ko-KR" altLang="en-US" sz="8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C4319A-1FC4-F0C0-6DFC-AB24570ADD1E}"/>
              </a:ext>
            </a:extLst>
          </p:cNvPr>
          <p:cNvSpPr/>
          <p:nvPr/>
        </p:nvSpPr>
        <p:spPr>
          <a:xfrm>
            <a:off x="68855" y="5095758"/>
            <a:ext cx="1009815" cy="17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수집한 </a:t>
            </a:r>
            <a:r>
              <a:rPr lang="ko-KR" altLang="en-US" sz="800" dirty="0" err="1"/>
              <a:t>데이타</a:t>
            </a:r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057EC7-483F-40BE-BFFF-6C6BE401860F}"/>
              </a:ext>
            </a:extLst>
          </p:cNvPr>
          <p:cNvSpPr txBox="1"/>
          <p:nvPr/>
        </p:nvSpPr>
        <p:spPr>
          <a:xfrm>
            <a:off x="1114286" y="4364449"/>
            <a:ext cx="318799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0" i="0" dirty="0">
                <a:effectLst/>
                <a:latin typeface="fkGroteskNeue"/>
              </a:rPr>
              <a:t>Exec sp_PROD_006_DOM_GATHERING@P1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c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@P1varchar(1000)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V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2025-08-21 08:04:56=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NOZZLE 802 [</a:t>
            </a:r>
            <a:r>
              <a:rPr lang="ko-KR" altLang="en-US" sz="800" b="0" i="0" dirty="0">
                <a:effectLst/>
                <a:latin typeface="fkGroteskNeue"/>
              </a:rPr>
              <a:t>모델명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400000304856 [</a:t>
            </a:r>
            <a:r>
              <a:rPr lang="ko-KR" altLang="en-US" sz="800" b="0" i="0" dirty="0">
                <a:effectLst/>
                <a:latin typeface="fkGroteskNeue"/>
              </a:rPr>
              <a:t>바코드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40000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토크설정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기본값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1000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토크설정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편차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40050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토크측정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-Data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50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토크측정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편차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220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각도설정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기본값</a:t>
            </a:r>
            <a:r>
              <a:rPr lang="en-US" altLang="ko-KR" sz="800" dirty="0">
                <a:latin typeface="fkGroteskNeue"/>
              </a:rPr>
              <a:t>]</a:t>
            </a:r>
            <a:endParaRPr lang="en-US" altLang="ko-KR" sz="800" b="0" i="0" dirty="0">
              <a:effectLst/>
              <a:latin typeface="fkGroteskNeue"/>
            </a:endParaRPr>
          </a:p>
          <a:p>
            <a:r>
              <a:rPr lang="en-US" altLang="ko-KR" sz="800" b="0" i="0" dirty="0">
                <a:effectLst/>
                <a:latin typeface="fkGroteskNeue"/>
              </a:rPr>
              <a:t>120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각도설정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편차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234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각도측정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-Data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14 [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각도측정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편차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OKOKOK [</a:t>
            </a:r>
            <a:r>
              <a:rPr lang="ko-KR" altLang="en-US" sz="800" b="0" i="0" dirty="0">
                <a:effectLst/>
                <a:latin typeface="fkGroteskNeue"/>
              </a:rPr>
              <a:t>최종결과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</a:p>
          <a:p>
            <a:r>
              <a:rPr lang="en-US" altLang="ko-KR" sz="800" b="0" i="0" dirty="0">
                <a:effectLst/>
                <a:latin typeface="fkGroteskNeue"/>
              </a:rPr>
              <a:t>7133 [</a:t>
            </a:r>
            <a:r>
              <a:rPr lang="ko-KR" altLang="en-US" sz="800" b="0" i="0" dirty="0">
                <a:effectLst/>
                <a:latin typeface="fkGroteskNeue"/>
              </a:rPr>
              <a:t>높이</a:t>
            </a:r>
            <a:r>
              <a:rPr lang="en-US" altLang="ko-KR" sz="800" b="0" i="0" dirty="0">
                <a:effectLst/>
                <a:latin typeface="fkGroteskNeue"/>
              </a:rPr>
              <a:t>]</a:t>
            </a:r>
            <a:endParaRPr lang="ko-KR" alt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D4C6CE-2BDD-428F-AFA6-0CC87434ABDD}"/>
              </a:ext>
            </a:extLst>
          </p:cNvPr>
          <p:cNvSpPr txBox="1"/>
          <p:nvPr/>
        </p:nvSpPr>
        <p:spPr>
          <a:xfrm>
            <a:off x="2882474" y="5637157"/>
            <a:ext cx="373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최초값은</a:t>
            </a:r>
            <a:r>
              <a:rPr lang="ko-KR" altLang="en-US" dirty="0"/>
              <a:t> 좌</a:t>
            </a:r>
            <a:r>
              <a:rPr lang="en-US" altLang="ko-KR" dirty="0"/>
              <a:t>, </a:t>
            </a:r>
            <a:r>
              <a:rPr lang="ko-KR" altLang="en-US" dirty="0"/>
              <a:t>이후는 우로 판정 예정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BC53A-1AF4-49DE-AA62-306919FC7E93}"/>
              </a:ext>
            </a:extLst>
          </p:cNvPr>
          <p:cNvSpPr txBox="1"/>
          <p:nvPr/>
        </p:nvSpPr>
        <p:spPr>
          <a:xfrm>
            <a:off x="4595619" y="-42590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IF_MCN_TNK_DOM_PSG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445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34157</TotalTime>
  <Words>829</Words>
  <Application>Microsoft Office PowerPoint</Application>
  <PresentationFormat>화면 슬라이드 쇼(4:3)</PresentationFormat>
  <Paragraphs>295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D2Coding</vt:lpstr>
      <vt:lpstr>fkGroteskNeue</vt:lpstr>
      <vt:lpstr>맑은 고딕</vt:lpstr>
      <vt:lpstr>Arial</vt:lpstr>
      <vt:lpstr>Calibri</vt:lpstr>
      <vt:lpstr>Calibri Light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yura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lmh</dc:creator>
  <cp:lastModifiedBy>jongsik an</cp:lastModifiedBy>
  <cp:revision>3332</cp:revision>
  <cp:lastPrinted>2024-03-05T00:33:53Z</cp:lastPrinted>
  <dcterms:created xsi:type="dcterms:W3CDTF">2018-07-11T03:49:57Z</dcterms:created>
  <dcterms:modified xsi:type="dcterms:W3CDTF">2026-01-15T07:02:35Z</dcterms:modified>
</cp:coreProperties>
</file>